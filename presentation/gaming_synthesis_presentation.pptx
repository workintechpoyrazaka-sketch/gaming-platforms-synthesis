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Games</c:v>
                </c:pt>
              </c:strCache>
            </c:strRef>
          </c:tx>
          <c:spPr>
            <a:solidFill>
              <a:srgbClr val="1B28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83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308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7C1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553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A15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Steam Excl.</c:v>
                  </c:pt>
                  <c:pt idx="1">
                    <c:v>PS Excl.</c:v>
                  </c:pt>
                  <c:pt idx="2">
                    <c:v>Xbox Excl.</c:v>
                  </c:pt>
                  <c:pt idx="3">
                    <c:v>Multi (2)</c:v>
                  </c:pt>
                  <c:pt idx="4">
                    <c:v>Multi (3)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89855</c:v>
                </c:pt>
                <c:pt idx="1">
                  <c:v>5561</c:v>
                </c:pt>
                <c:pt idx="2">
                  <c:v>2050</c:v>
                </c:pt>
                <c:pt idx="3">
                  <c:v>5563</c:v>
                </c:pt>
                <c:pt idx="4">
                  <c:v>3278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Price</c:v>
                </c:pt>
              </c:strCache>
            </c:strRef>
          </c:tx>
          <c:spPr>
            <a:solidFill>
              <a:srgbClr val="1B28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83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308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7C1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553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A15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Steam Excl.</c:v>
                  </c:pt>
                  <c:pt idx="1">
                    <c:v>PS Excl.</c:v>
                  </c:pt>
                  <c:pt idx="2">
                    <c:v>Xbox Excl.</c:v>
                  </c:pt>
                  <c:pt idx="3">
                    <c:v>Multi (2)</c:v>
                  </c:pt>
                  <c:pt idx="4">
                    <c:v>Multi (3)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4.99</c:v>
                </c:pt>
                <c:pt idx="1">
                  <c:v>3.99</c:v>
                </c:pt>
                <c:pt idx="2">
                  <c:v>9.99</c:v>
                </c:pt>
                <c:pt idx="3">
                  <c:v>9.99</c:v>
                </c:pt>
                <c:pt idx="4">
                  <c:v>14.99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Exclusive</c:v>
                </c:pt>
              </c:strCache>
            </c:strRef>
          </c:tx>
          <c:spPr>
            <a:solidFill>
              <a:srgbClr val="636E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PS</c:v>
                  </c:pt>
                  <c:pt idx="1">
                    <c:v>Steam</c:v>
                  </c:pt>
                  <c:pt idx="2">
                    <c:v>Xbox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36.7</c:v>
                </c:pt>
                <c:pt idx="2">
                  <c:v>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 (2)</c:v>
                </c:pt>
              </c:strCache>
            </c:strRef>
          </c:tx>
          <c:spPr>
            <a:solidFill>
              <a:srgbClr val="EF55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PS</c:v>
                  </c:pt>
                  <c:pt idx="1">
                    <c:v>Steam</c:v>
                  </c:pt>
                  <c:pt idx="2">
                    <c:v>Xbox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45.6</c:v>
                </c:pt>
                <c:pt idx="1">
                  <c:v>30.8</c:v>
                </c:pt>
                <c:pt idx="2">
                  <c:v>38.4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Multi (3)</c:v>
                </c:pt>
              </c:strCache>
            </c:strRef>
          </c:tx>
          <c:spPr>
            <a:solidFill>
              <a:srgbClr val="FFA1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PS</c:v>
                  </c:pt>
                  <c:pt idx="1">
                    <c:v>Steam</c:v>
                  </c:pt>
                  <c:pt idx="2">
                    <c:v>Xbox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46.2</c:v>
                </c:pt>
                <c:pt idx="1">
                  <c:v>29.3</c:v>
                </c:pt>
                <c:pt idx="2">
                  <c:v>37.7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Reviews/Game</c:v>
                </c:pt>
              </c:strCache>
            </c:strRef>
          </c:tx>
          <c:spPr>
            <a:solidFill>
              <a:srgbClr val="636E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36E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55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A15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Exclusive</c:v>
                  </c:pt>
                  <c:pt idx="1">
                    <c:v>Multi (2)</c:v>
                  </c:pt>
                  <c:pt idx="2">
                    <c:v>Multi (3)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17.4</c:v>
                </c:pt>
                <c:pt idx="1">
                  <c:v>66.2</c:v>
                </c:pt>
                <c:pt idx="2">
                  <c:v>83.9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55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CROSS-PLATFORM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GAMING SYNTHESIS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Launch Strategy Maximizes Reach and Engagement?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131,884 games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 platforms  ·  60GB dataset  ·  6 analysis dimensions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— Workintech Data Analyst Program —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28016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were launching a game in 2025, which combination of platform strategy, pricing model, and target region maximizes player reach and engagement?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releases reach more players, but single-platform games achieve deeper per-player engagement. The optimal strategy depends on whether the goal is reach or depth.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1554480" cy="16459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371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 RAW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55M+ rows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48840" y="1280160"/>
            <a:ext cx="1554480" cy="1645920"/>
          </a:xfrm>
          <a:prstGeom prst="rect">
            <a:avLst/>
          </a:prstGeom>
          <a:solidFill>
            <a:srgbClr val="2D4A6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48840" y="1371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BRONZE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4884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typed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1280160"/>
            <a:ext cx="1554480" cy="1645920"/>
          </a:xfrm>
          <a:prstGeom prst="rect">
            <a:avLst/>
          </a:prstGeom>
          <a:solidFill>
            <a:srgbClr val="3B6B9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0" y="1371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SILVER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90M+ unified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1280160"/>
            <a:ext cx="1554480" cy="1645920"/>
          </a:xfrm>
          <a:prstGeom prst="rect">
            <a:avLst/>
          </a:prstGeom>
          <a:solidFill>
            <a:srgbClr val="00308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15000" y="1371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GOLD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Analysis-ready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0" y="1280160"/>
            <a:ext cx="1554480" cy="1645920"/>
          </a:xfrm>
          <a:prstGeom prst="rect">
            <a:avLst/>
          </a:prstGeom>
          <a:solidFill>
            <a:srgbClr val="EF55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0" y="1371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NOTEBOOK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charts + 3 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173736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703320" y="173736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86400" y="173736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269480" y="173736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1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SUCCESS PROXIES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2377440" cy="100584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Library Presence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297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· All 3 platforms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3840480"/>
            <a:ext cx="2377440" cy="100584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Achievement Completion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11880" y="4297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· All 3 platforms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840480"/>
            <a:ext cx="2377440" cy="100584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Reception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4297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Advocacy · Steam only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85.5%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games never leave their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8.4% of titles appear on 2+ platforms.
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alone: 89,855 exclusive titles.
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publishing is the exception.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754880" y="731520"/>
          <a:ext cx="4023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ANALYSIS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price premium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$14.99 median vs $4.99 exclusive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0972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64.5%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multi-platform titles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is the cheapest platform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3200400"/>
          <a:ext cx="768096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 ENGAGEMENT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Steam = Breadth. PlayStation = Depth.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301752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246888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148.9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games owned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A1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per game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hoarders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1554480"/>
            <a:ext cx="2468880" cy="301752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554480"/>
            <a:ext cx="246888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737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PLAYSTATION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2194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58.2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74904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games owned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49040" y="3200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A1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1.69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749040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per game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engagers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554480"/>
            <a:ext cx="2468880" cy="301752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1554480"/>
            <a:ext cx="2468880" cy="73152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737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7C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2194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46.1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58368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games owned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3200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A1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1.37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583680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per game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players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ACHIEVEMENT COMPLETION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Exclusives win on every platform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463040"/>
          <a:ext cx="7680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COVID boosted everyone.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is declining.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bump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platforms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173736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7C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−34%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66160" y="2468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decline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→ 2024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2.4M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2018 spike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unlocks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exclusive players engage 85% deeper than Steam exclusive (420.9 vs 228.1 avg achievements)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 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you live predicts how you play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292608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A1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PREFERENCES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PlayStation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Russia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2697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to Steam majority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market overall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Germany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PS + Steam mix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554480"/>
            <a:ext cx="3657600" cy="292608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A1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DEEPEST ENGAGEMENT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1945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of top 10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37760" y="2834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deepest-engaging markets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PlayStation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566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Estonia · Hong Kong · Czechia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markets, deep players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Xbox has no country field — geographic analysis covers PS + Steam only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SIGNALS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Multi-platform games get 5× more reviews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200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5×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reviews per game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 vs 17.4 for exclusives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389120" y="1554480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 genres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 helpfulness rankings. </a:t>
            </a:r>
            <a:pPr indent="0" marL="0">
              <a:buNone/>
            </a:pPr>
            <a:r>
              <a:rPr lang="en-US" sz="1200" b="1" dirty="0">
                <a:solidFill>
                  <a:srgbClr val="EF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only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reviews don't exist on PS/Xbox.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models confirm the patterns are real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274320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2468880" cy="73152"/>
          </a:xfrm>
          <a:prstGeom prst="rect">
            <a:avLst/>
          </a:prstGeom>
          <a:solidFill>
            <a:srgbClr val="EF55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diversity is the top predictor of multi-platform status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1554480"/>
            <a:ext cx="2468880" cy="274320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1554480"/>
            <a:ext cx="2468880" cy="73152"/>
          </a:xfrm>
          <a:prstGeom prst="rect">
            <a:avLst/>
          </a:prstGeom>
          <a:solidFill>
            <a:srgbClr val="FFA15A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737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1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103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25603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coefficients positive — more genres, higher price, more platforms → multi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2468880" cy="274320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554480"/>
            <a:ext cx="2468880" cy="73152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737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CLUSTERING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103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25603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clusters align with exclusive-vs-multi divide without labels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proved patterns → RF showed drivers → LR showed direction → K-Means confirmed structure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data tells us — the business story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54864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00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85.5%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games are platform-exclusive.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is the exception,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rule.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14630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1463040"/>
            <a:ext cx="2468880" cy="54864"/>
          </a:xfrm>
          <a:prstGeom prst="rect">
            <a:avLst/>
          </a:prstGeom>
          <a:solidFill>
            <a:srgbClr val="EF553B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1600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703320" y="21488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premium for multi-platform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games. Median $14.99 vs $4.99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exclusives.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463040"/>
            <a:ext cx="2468880" cy="54864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600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37960" y="21488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completion for PS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exclusives — highest of any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× strategy combination.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291840"/>
            <a:ext cx="2468880" cy="54864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429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5×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68680" y="3977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reviews per game for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titles on Steam.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begets visibility.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6160" y="32918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66160" y="3291840"/>
            <a:ext cx="2468880" cy="5486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3429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703320" y="3977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engagement for PS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players vs Steam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(420.9 vs 228.1 achievements).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32918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3291840"/>
            <a:ext cx="2468880" cy="54864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429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7C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537960" y="3977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Spanish players are on PS.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predicts platform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and engagement.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Thesis confirmed: Multi = Reach, Exclusive = Depth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3474720" cy="1645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" name="Shape 3"/>
          <p:cNvSpPr/>
          <p:nvPr/>
        </p:nvSpPr>
        <p:spPr>
          <a:xfrm>
            <a:off x="4389120" y="1463040"/>
            <a:ext cx="3474720" cy="16459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108960"/>
            <a:ext cx="3474720" cy="164592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0" y="3108960"/>
            <a:ext cx="3474720" cy="16459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NICHE DEPTH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IDEAL (RARE)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154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AVOID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3154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📢 VOLUME PLAY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18288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Exclusive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completion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 players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474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Exclusive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36.7% completion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46.8K players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F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29–46% completion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F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~46K per platform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474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Exclusive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38.4% completion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46.2K players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8006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 Reach                                    High Reach →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" y="1463040"/>
            <a:ext cx="731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A1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A1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RECOMMENDATION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47472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3657600" cy="73152"/>
          </a:xfrm>
          <a:prstGeom prst="rect">
            <a:avLst/>
          </a:prstGeom>
          <a:solidFill>
            <a:srgbClr val="EF55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YOUR GOAL IS REACH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multi-platform (2+ platforms)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at market rate (~$15 median)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5× more reviews on Steam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platform adds ~46K players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657600" cy="347472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3657600" cy="73152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YOUR GOAL IS DEPTH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PlayStation exclusive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achievement completion rate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Exclusives &gt; multi on every platform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small EU markets for depth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reach-depth tradeoff is structural. Multi-platform dilutes per-player engagement while maximizing total audience.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5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LIMITATIONS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are Steam-only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revenue data exists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Title-based matching (no shared ID)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has no country field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54.2% Steam NULL libraries excluded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Pre-aggregated completion rates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on review text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 (Xbox decline)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 modeling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Genre-level deep dive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analysis: multi → visibility?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F55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person. One dataset. Six dimensions.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testable thesis with a concrete answer.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
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· Python · Pandas · Plotly · scipy · scikit-learn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
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github.com/workintechpoyrazaka-sketch/gaming-platforms-synthesis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Cross-Platform Gaming Synthesis</dc:title>
  <dc:subject>PptxGenJS Presentation</dc:subject>
  <dc:creator>Poi</dc:creator>
  <cp:lastModifiedBy>Poi</cp:lastModifiedBy>
  <cp:revision>1</cp:revision>
  <dcterms:created xsi:type="dcterms:W3CDTF">2026-03-13T14:31:12Z</dcterms:created>
  <dcterms:modified xsi:type="dcterms:W3CDTF">2026-03-13T14:31:12Z</dcterms:modified>
</cp:coreProperties>
</file>